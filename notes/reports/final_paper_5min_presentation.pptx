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this is not a deployed ensemble. It trains one ArcFace/iResNet100 target with richer training pressure, then deploys only that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reliability question. The project elevates recent adversarial ensemble training by adding recognizer-side training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ladder quickly. The decisive comparison is attack-ensemble-only versus full-ensemble because the attack set is fixed and only recognizer pressure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two headline numbers. Then say the per-attack split matters because it reduces the chance that the average is hiding one isolated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robustness gain is meaningful, but the frontier is the real result. Verification cost is small; training cost is large. Batch size explains why wall time is not a pure algorithmic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emphasizing calibrated contribution. This is an investigative ablation and a concrete design direction, not a claim of state-of-the-art deployment robustness.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Multi-recognizer multi-attacker FR | 5-minute talk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7772400" y="-182880"/>
            <a:ext cx="4480560" cy="4480560"/>
          </a:xfrm>
          <a:prstGeom prst="arc">
            <a:avLst/>
          </a:prstGeom>
          <a:solidFill>
            <a:srgbClr val="0F172A">
              <a:alpha val="0"/>
            </a:srgbClr>
          </a:solidFill>
          <a:ln w="27940">
            <a:solidFill>
              <a:srgbClr val="67E8F9">
                <a:alpha val="8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760000">
            <a:off x="8595360" y="594360"/>
            <a:ext cx="2743200" cy="2743200"/>
          </a:xfrm>
          <a:prstGeom prst="arc">
            <a:avLst/>
          </a:prstGeom>
          <a:solidFill>
            <a:srgbClr val="0F172A">
              <a:alpha val="0"/>
            </a:srgbClr>
          </a:solidFill>
          <a:ln w="20320">
            <a:solidFill>
              <a:srgbClr val="F59E0B">
                <a:alpha val="7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6583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Multi-Recognizer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Multi-Attacker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Adversarial Training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8346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F9"/>
                </a:solidFill>
              </a:rPr>
              <a:t>for Robust Face Recognition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5-minute presentation based on the final paper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2E8F0"/>
                </a:solidFill>
              </a:rPr>
              <a:t>Core question: after attack diversity, does recognizer diversity still help one deployed target recognizer?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MOTIVATION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Question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07008"/>
            <a:ext cx="521208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0F172A"/>
                </a:solidFill>
              </a:rPr>
              <a:t>Face recognition embeddings must stay separable enough for identity decisions and stable enough under real-world variation. Clean accuracy is only one part of that reliability story.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685800" y="2450592"/>
            <a:ext cx="2148840" cy="1417320"/>
          </a:xfrm>
          <a:prstGeom prst="roundRect">
            <a:avLst>
              <a:gd name="adj" fmla="val 5806"/>
            </a:avLst>
          </a:prstGeom>
          <a:solidFill>
            <a:srgbClr val="E0F2FE"/>
          </a:solidFill>
          <a:ln w="1016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63240" y="2450592"/>
            <a:ext cx="2148840" cy="1417320"/>
          </a:xfrm>
          <a:prstGeom prst="roundRect">
            <a:avLst>
              <a:gd name="adj" fmla="val 5806"/>
            </a:avLst>
          </a:prstGeom>
          <a:solidFill>
            <a:srgbClr val="FEF3C7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40680" y="2450592"/>
            <a:ext cx="2148840" cy="1417320"/>
          </a:xfrm>
          <a:prstGeom prst="roundRect">
            <a:avLst>
              <a:gd name="adj" fmla="val 5806"/>
            </a:avLst>
          </a:prstGeom>
          <a:solidFill>
            <a:srgbClr val="FFE4E6"/>
          </a:solidFill>
          <a:ln w="10160">
            <a:solidFill>
              <a:srgbClr val="FDA4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</a:rPr>
              <a:t>Clean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</a:rPr>
              <a:t>recognition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46120" y="2724912"/>
            <a:ext cx="17373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Appearance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&amp; dirty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</a:rPr>
              <a:t>Adversarial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11D48"/>
                </a:solidFill>
              </a:rPr>
              <a:t>inputs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97480" y="3154680"/>
            <a:ext cx="39319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3154680"/>
            <a:ext cx="39319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46720" y="1298448"/>
            <a:ext cx="3429000" cy="35204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72768"/>
            <a:ext cx="283464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Research question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02752" y="1901952"/>
            <a:ext cx="278892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F172A"/>
                </a:solidFill>
              </a:rPr>
              <a:t>If an attacker ensemble already supplies PGD, BPFA, and DFANet pressure, does adding recognizer-objective diversity still improve robustness?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8302752" y="3749040"/>
            <a:ext cx="27889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The risk is that the same pressure may disturb verification geometry.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METHOD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 Ladder And Training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133856"/>
            <a:ext cx="1069848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Five conditions isolate what changes: clean training, recognizer pressure alone, one attack, multiple attacks, and recognizer-plus-attacker pressure.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66544"/>
            <a:ext cx="1554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Clean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baseline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50592" y="2286000"/>
            <a:ext cx="42976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07792" y="182880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E0F2F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066544"/>
            <a:ext cx="1554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Recognizer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only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42976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02352" y="182880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FEF3C7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2066544"/>
            <a:ext cx="1554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Single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attack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39712" y="2286000"/>
            <a:ext cx="42976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96912" y="182880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FFEDD5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8352" y="2066544"/>
            <a:ext cx="1554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Attack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ensemble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34272" y="2286000"/>
            <a:ext cx="42976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91472" y="182880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2066544"/>
            <a:ext cx="15544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Full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ensemble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365760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858768"/>
            <a:ext cx="137160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</a:rPr>
              <a:t>Deployed model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4128" y="4160520"/>
            <a:ext cx="25146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ArcFace / iResNet100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512-D embedding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26280" y="3273552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EEF2FF"/>
          </a:solidFill>
          <a:ln w="1016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547872"/>
            <a:ext cx="21031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Attack pressure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64608" y="397764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04622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PGD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559552" y="3977640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32704" y="404622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BPFA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09360" y="3977640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404622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DFANet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82312" y="4498848"/>
            <a:ext cx="21488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digital and transfer-oriented adversarial examples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7772400" y="3273552"/>
            <a:ext cx="3108960" cy="1965960"/>
          </a:xfrm>
          <a:prstGeom prst="roundRect">
            <a:avLst>
              <a:gd name="adj" fmla="val 4186"/>
            </a:avLst>
          </a:prstGeom>
          <a:solidFill>
            <a:srgbClr val="ECFDF5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3547872"/>
            <a:ext cx="2514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Recognizer pressure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46720" y="397764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404622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ArcFace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851392" y="3977640"/>
            <a:ext cx="8229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24544" y="404622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CosFace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729216" y="39776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02368" y="404622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CurricularFace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211312" y="4498848"/>
            <a:ext cx="2057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auxiliary objectives used during training only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3931920" y="4315968"/>
            <a:ext cx="5029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178040" y="4315968"/>
            <a:ext cx="5029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MAIN RESULT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Recognizer Diversity Adds Robustness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52.32% → 56.55%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889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average robust accuracy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822960" y="1911096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+4.23 points over attack ensemble</a:t>
            </a:r>
            <a:endParaRPr lang="en-US" sz="660" dirty="0"/>
          </a:p>
        </p:txBody>
      </p:sp>
      <p:sp>
        <p:nvSpPr>
          <p:cNvPr id="8" name="Shape 6"/>
          <p:cNvSpPr/>
          <p:nvPr/>
        </p:nvSpPr>
        <p:spPr>
          <a:xfrm>
            <a:off x="4160520" y="1261872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3716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11D48"/>
                </a:solidFill>
              </a:rPr>
              <a:t>44.32% → 39.45%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70248" y="1737360"/>
            <a:ext cx="2889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attack success rate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270248" y="1911096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-4.87 points</a:t>
            </a:r>
            <a:endParaRPr lang="en-US" sz="660" dirty="0"/>
          </a:p>
        </p:txBody>
      </p:sp>
      <p:sp>
        <p:nvSpPr>
          <p:cNvPr id="12" name="Shape 10"/>
          <p:cNvSpPr/>
          <p:nvPr/>
        </p:nvSpPr>
        <p:spPr>
          <a:xfrm>
            <a:off x="7607808" y="1261872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7536" y="13716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91B2"/>
                </a:solidFill>
              </a:rPr>
              <a:t>1 target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17536" y="1737360"/>
            <a:ext cx="2889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same deployed model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7717536" y="1911096"/>
            <a:ext cx="2889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auxiliaries discarded at inference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749808" y="2514600"/>
            <a:ext cx="5166360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761488"/>
            <a:ext cx="34747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Average robust accuracy by condition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7552" y="31729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Clean baseline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2862072" y="3200400"/>
            <a:ext cx="265176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62072" y="3200400"/>
            <a:ext cx="27432" cy="201168"/>
          </a:xfrm>
          <a:prstGeom prst="roundRect">
            <a:avLst>
              <a:gd name="adj" fmla="val 133333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1912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0.21%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87552" y="35570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Recognizer only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2862072" y="3584448"/>
            <a:ext cx="265176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62072" y="3584448"/>
            <a:ext cx="27432" cy="201168"/>
          </a:xfrm>
          <a:prstGeom prst="roundRect">
            <a:avLst>
              <a:gd name="adj" fmla="val 133333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5753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0.23%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987552" y="39410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Single attack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862072" y="3968496"/>
            <a:ext cx="265176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2072" y="3968496"/>
            <a:ext cx="1525204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9593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34.51%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87552" y="43251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Attack ensemble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862072" y="4352544"/>
            <a:ext cx="265176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62072" y="4352544"/>
            <a:ext cx="2312335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3434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52.32%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87552" y="47091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Full ensemble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2862072" y="4736592"/>
            <a:ext cx="265176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62072" y="4736592"/>
            <a:ext cx="2499284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4727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56.55%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419088" y="2514600"/>
            <a:ext cx="4526280" cy="2907792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3408" y="2761488"/>
            <a:ext cx="30175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Per-attack robust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32004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Attack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18120" y="32004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Atk ens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887968" y="32004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Full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985248" y="32004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Δ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3438144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35844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PGD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18120" y="3584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45.45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887968" y="3584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52.55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985248" y="3584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+7.10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675120" y="391363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40599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BPFA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818120" y="40599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66.09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887968" y="40599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69.56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985248" y="40599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+3.47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675120" y="438912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45354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DFANet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818120" y="45354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45.43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887968" y="45354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47.55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985248" y="45354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+2.12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702552" y="5010912"/>
            <a:ext cx="3401568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</a:rPr>
              <a:t>The gain appears across the attack suite rather than only on the easiest family.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TRADEOFF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Gain Is Not Free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49834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Verification quality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201168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121408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11D48"/>
                </a:solidFill>
              </a:rPr>
              <a:t>98.33% → 98.21%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69848" y="2487168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verification accuracy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069848" y="266090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attack ensemble → full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3337560" y="201168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2121408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11D48"/>
                </a:solidFill>
              </a:rPr>
              <a:t>1.78% → 1.93%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47288" y="2487168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4748B"/>
                </a:solidFill>
              </a:rPr>
              <a:t>EER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447288" y="2660904"/>
            <a:ext cx="1837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64748B"/>
                </a:solidFill>
              </a:rPr>
              <a:t>lower is better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987552" y="3429000"/>
            <a:ext cx="42519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155"/>
                </a:solidFill>
              </a:rPr>
              <a:t>The full condition hardens robustness, but slightly worsens the verification operating point. That is expected to matter in FR because the embedding geometry is the product, not just the closed-set classifier.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291072" y="1325880"/>
            <a:ext cx="49834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Training cost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1214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Baseline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8412480" y="2148840"/>
            <a:ext cx="233172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148840"/>
            <a:ext cx="264003" cy="201168"/>
          </a:xfrm>
          <a:prstGeom prst="roundRect">
            <a:avLst>
              <a:gd name="adj" fmla="val 18182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99648" y="2139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101.90 GPUh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37960" y="26243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Attack ensemble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8412480" y="2651760"/>
            <a:ext cx="233172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651760"/>
            <a:ext cx="1565361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99648" y="2642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604.20 GPUh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537960" y="31272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34155"/>
                </a:solidFill>
              </a:rPr>
              <a:t>Full ensemble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8412480" y="3154680"/>
            <a:ext cx="2331720" cy="201168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3154680"/>
            <a:ext cx="2281718" cy="201168"/>
          </a:xfrm>
          <a:prstGeom prst="roundRect">
            <a:avLst>
              <a:gd name="adj" fmla="val 18182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99648" y="3145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</a:rPr>
              <a:t>880.70 GPUh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537960" y="4041648"/>
            <a:ext cx="4096512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Batch size is part of the story: clean training ran at 128, while adversarial stages were VRAM-capped at 48 or 32.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6537960" y="4864608"/>
            <a:ext cx="4023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Inference cost is unchanged because only the target recognizer is deployed.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200400" cy="3611880"/>
          </a:xfrm>
          <a:prstGeom prst="roundRect">
            <a:avLst>
              <a:gd name="adj" fmla="val 2571"/>
            </a:avLst>
          </a:prstGeom>
          <a:solidFill>
            <a:srgbClr val="ECFDF5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7190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214884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F172A"/>
                </a:solidFill>
              </a:rPr>
              <a:t>Recognizer diversity helped beyond attack diversity.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560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</a:rPr>
              <a:t>Full-ensemble training improved robust accuracy and reduced attack success while keeping deployment as one recognizer.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498848" y="1417320"/>
            <a:ext cx="3200400" cy="3611880"/>
          </a:xfrm>
          <a:prstGeom prst="roundRect">
            <a:avLst>
              <a:gd name="adj" fmla="val 2571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190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38928" y="1719072"/>
            <a:ext cx="224028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F172A"/>
                </a:solidFill>
              </a:rPr>
              <a:t>The result is a frontier, not a free upgrade.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4773168" y="2743200"/>
            <a:ext cx="25146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</a:rPr>
              <a:t>Robustness improved, verification slightly softened, and training cost increased sharply under VRAM-limited adversarial schedules.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00400" cy="3611880"/>
          </a:xfrm>
          <a:prstGeom prst="roundRect">
            <a:avLst>
              <a:gd name="adj" fmla="val 2571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7190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0" y="1719072"/>
            <a:ext cx="214884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0F172A"/>
                </a:solidFill>
              </a:rPr>
              <a:t>The next step is stronger evaluation.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8503920" y="2743200"/>
            <a:ext cx="25146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155"/>
                </a:solidFill>
              </a:rPr>
              <a:t>Unseen attacks, adaptive attacks, external benchmarks, and cheaper training schedules are needed before making broader deployment claims.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914400" y="5650992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833872"/>
            <a:ext cx="100584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F172A"/>
                </a:solidFill>
              </a:rPr>
              <a:t>One-sentence takeaway: recognizer-objective diversity is a practical training-time lever for robust FR, but its value depends on the robustness, verification, and cost operating point.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FYP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Multi-Recognizer Multi-Attacker Adversarial Training for Robust Face Recognition</dc:title>
  <dc:subject>5-minute presentation based on final paper</dc:subject>
  <dc:creator>Jerome Harianto</dc:creator>
  <cp:lastModifiedBy>Jerome Harianto</cp:lastModifiedBy>
  <cp:revision>1</cp:revision>
  <dcterms:created xsi:type="dcterms:W3CDTF">2026-05-17T05:59:25Z</dcterms:created>
  <dcterms:modified xsi:type="dcterms:W3CDTF">2026-05-17T05:59:25Z</dcterms:modified>
</cp:coreProperties>
</file>